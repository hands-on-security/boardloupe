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4f1bca4587b4161" /><Relationship Type="http://schemas.openxmlformats.org/officeDocument/2006/relationships/extended-properties" Target="/docProps/app.xml" Id="Ra470fcfe031d4a2f" /><Relationship Type="http://schemas.openxmlformats.org/officeDocument/2006/relationships/officeDocument" Target="/ppt/presentation.xml" Id="R44d6bba4d27049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7854321aa94d2f"/>
  </p:sldMasterIdLst>
  <p:notesMasterIdLst>
    <p:notesMasterId xmlns:r="http://schemas.openxmlformats.org/officeDocument/2006/relationships" r:id="R8b6cfa0b7b7243f8"/>
  </p:notesMasterIdLst>
  <p:sldIdLst>
    <p:sldId xmlns:r="http://schemas.openxmlformats.org/officeDocument/2006/relationships" id="256" r:id="Re11f034d8be442ac"/>
    <p:sldId xmlns:r="http://schemas.openxmlformats.org/officeDocument/2006/relationships" id="257" r:id="R8dc29a69174e41b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4ee04a6703c431f" /><Relationship Type="http://schemas.openxmlformats.org/officeDocument/2006/relationships/slideMaster" Target="/ppt/slideMasters/slideMaster1.xml" Id="R527854321aa94d2f" /><Relationship Type="http://schemas.openxmlformats.org/officeDocument/2006/relationships/notesMaster" Target="/ppt/notesMasters/notesMaster1.xml" Id="R8b6cfa0b7b7243f8" /><Relationship Type="http://schemas.openxmlformats.org/officeDocument/2006/relationships/presProps" Target="/ppt/presProps.xml" Id="R2152be573abe4b39" /><Relationship Type="http://schemas.openxmlformats.org/officeDocument/2006/relationships/tableStyles" Target="/ppt/tableStyles.xml" Id="Re39fa4fc543640ff" /><Relationship Type="http://schemas.openxmlformats.org/officeDocument/2006/relationships/slide" Target="/ppt/slides/slide1.xml" Id="Re11f034d8be442ac" /><Relationship Type="http://schemas.openxmlformats.org/officeDocument/2006/relationships/slide" Target="/ppt/slides/slide2.xml" Id="R8dc29a69174e41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78bf9dd48b34d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46e9973cd864e8f" /><Relationship Type="http://schemas.openxmlformats.org/officeDocument/2006/relationships/notesMaster" Target="/ppt/notesMasters/notesMaster1.xml" Id="R97d5812dfdb44dd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b81029ad19a4601" /><Relationship Type="http://schemas.openxmlformats.org/officeDocument/2006/relationships/notesMaster" Target="/ppt/notesMasters/notesMaster1.xml" Id="R00c2f3665f674c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Presenter: Avoid claiming BoardLoupe is the only free or browser-based option. NexusBV offers a free web version that says files stay local. FlexBV5 offers a cross-platform free edition; Pro is a perpetual licence with PDF schematic integration and job database. ZXWSoft has repair content, Windows 10/11, and account-based paid-file access. OpenBoardView is an established open-source native viewer. BoardRipper is an open-source web-based peer.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(official): https://pldaniels.com/flexbv5/ ; https://www.zxwtools.com/en/zxwsoft/zxwsoft4.0.html ; https://nexusbv.net/ ; https://github.com/OpenBoardView/OpenBoardView ; https://github.com/AlexeyInwerp/BoardRipper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These categories describe workflow emphasis, not a quality ranking. Features and pricing may change; checked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Presenter: For the classroom pilot, distribute only dist/boardloupe.html plus a supported-format list and lesson files that you have permission to share. The app works from file://, makes no network requests, and ships without board files or vendor decryption keys. A separately imported keyfile can be used locally when authorised. Students can search parts/nets, inspect either side, follow series components, and rank solder/probe access points.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Validation: project REPORT.md and FORMAT_MATRIX.md. Current local validation: 338 unit/corpus checks, 109 browser checks across Chromium, Firefox and WebKit, plus zero production dependency advisories from npm audit. The browser-engine tests ran on macOS; test the actual managed Windows/Linux machines before claiming platform-wide validation.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Known limits: Allegro 18+ is unsupported; NBV, numbered TopTest with .con, full Extracta, and multi-board GenCAM have no authentic fixtures and remain experimental. Some copper/silkscreen artwork is incomplete. Password-protected archives are unsupported. BoardLoupe is suitable as a classroom beta for verified formats, not a complete replacement for professional repair suites.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Screenshot source: docs/screenshots/dark-net.png from this project. Code and licence: LICENSE, THIRD_PARTY_NOTICES.md.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df514cd386462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45e2a7887645f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3181ca64a441d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6e85465e0e43d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fad96f36314ab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fb82e819e44e1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7D609B0-E8DD-44D6-AE27-547A9776AF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B4806CF-A4C8-452D-811A-5D1210BA3B4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D578BE0-C3F3-4D6A-B17D-EDB15AC597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67D09D0-86DF-4051-8461-398CB5DFFC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B41894B-E789-4AB1-AA86-9E80EDCA90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C50177A-F394-4823-8CEB-A3408FE57B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C65BD61-9A30-416D-A439-6B5A5DFDE20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4D3DA16-63FA-4914-8EFA-71194B9DD60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33198AB-C3CA-4B0E-9F67-21244C4DDC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BDF1345-DBC8-4D48-9DFA-6C39F638E8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2b315f530a47f1" /><Relationship Type="http://schemas.openxmlformats.org/officeDocument/2006/relationships/slideLayout" Target="/ppt/slideLayouts/slideLayout1.xml" Id="Ra6dc54493fbe4804" /><Relationship Type="http://schemas.openxmlformats.org/officeDocument/2006/relationships/slideLayout" Target="/ppt/slideLayouts/slideLayout2.xml" Id="R04debd988a264639" /><Relationship Type="http://schemas.openxmlformats.org/officeDocument/2006/relationships/slideLayout" Target="/ppt/slideLayouts/slideLayout3.xml" Id="R79b6685eefa941c0" /><Relationship Type="http://schemas.openxmlformats.org/officeDocument/2006/relationships/slideLayout" Target="/ppt/slideLayouts/slideLayout4.xml" Id="Rbb6220743e1b4241" /><Relationship Type="http://schemas.openxmlformats.org/officeDocument/2006/relationships/slideLayout" Target="/ppt/slideLayouts/slideLayout5.xml" Id="R1a74ce1d9a9f49ad" /><Relationship Type="http://schemas.openxmlformats.org/officeDocument/2006/relationships/slideLayout" Target="/ppt/slideLayouts/slideLayout6.xml" Id="R4b3b1b3a18d7479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dc54493fbe4804"/>
    <p:sldLayoutId xmlns:r="http://schemas.openxmlformats.org/officeDocument/2006/relationships" id="2147483650" r:id="R04debd988a264639"/>
    <p:sldLayoutId xmlns:r="http://schemas.openxmlformats.org/officeDocument/2006/relationships" id="2147483651" r:id="R79b6685eefa941c0"/>
    <p:sldLayoutId xmlns:r="http://schemas.openxmlformats.org/officeDocument/2006/relationships" id="2147483652" r:id="Rbb6220743e1b4241"/>
    <p:sldLayoutId xmlns:r="http://schemas.openxmlformats.org/officeDocument/2006/relationships" id="2147483653" r:id="R1a74ce1d9a9f49ad"/>
    <p:sldLayoutId xmlns:r="http://schemas.openxmlformats.org/officeDocument/2006/relationships" id="2147483654" r:id="R4b3b1b3a18d7479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0259fca93a4d16" /><Relationship Type="http://schemas.openxmlformats.org/officeDocument/2006/relationships/notesSlide" Target="/ppt/notesSlides/notesSlide1.xml" Id="R09aad1b0e7c24d3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7cc970f8c0483d" /><Relationship Type="http://schemas.openxmlformats.org/officeDocument/2006/relationships/image" Target="/ppt/media/image.png" Id="R8603bce843c34673" /><Relationship Type="http://schemas.openxmlformats.org/officeDocument/2006/relationships/notesSlide" Target="/ppt/notesSlides/notesSlide2.xml" Id="Rfd755521a54f4e9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D833E8-FCA8-4630-B41B-11678F62D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F2BA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2BA4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2BA48"/>
                </a:solidFill>
                <a:latin typeface="Arial"/>
                <a:ea typeface="Arial"/>
                <a:cs typeface="Arial"/>
              </a:rPr>
              <a:t>BOARDVIEW TOOLS  /  OCTOBER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7FC7E6-9074-4739-96DA-19412915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5F8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F5F8F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5F8FA"/>
                </a:solidFill>
                <a:latin typeface="Arial"/>
                <a:ea typeface="Arial"/>
                <a:cs typeface="Arial"/>
              </a:rPr>
              <a:t>The boardview landscape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97B2AD-AF1A-4939-B740-98F56497F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A6BA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A6BA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6BAC7"/>
                </a:solidFill>
                <a:latin typeface="Arial"/>
                <a:ea typeface="Arial"/>
                <a:cs typeface="Arial"/>
              </a:rPr>
              <a:t>Representative options students may meet at the repair bench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EE119B-7123-4961-AC5E-1A622F1A5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7F98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7F98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F98A8"/>
                </a:solidFill>
                <a:latin typeface="Arial"/>
                <a:ea typeface="Arial"/>
                <a:cs typeface="Arial"/>
              </a:rPr>
              <a:t>CATEGORY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2F4FDF-37C9-4618-8AB4-16C86D01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000250"/>
            <a:ext cx="3105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7F98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7F98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F98A8"/>
                </a:solidFill>
                <a:latin typeface="Arial"/>
                <a:ea typeface="Arial"/>
                <a:cs typeface="Arial"/>
              </a:rPr>
              <a:t>EXAMPLES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6BBC17-5926-4660-B366-297F42D9C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00250"/>
            <a:ext cx="493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7F98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7F98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F98A8"/>
                </a:solidFill>
                <a:latin typeface="Arial"/>
                <a:ea typeface="Arial"/>
                <a:cs typeface="Arial"/>
              </a:rPr>
              <a:t>TYPICAL STRENGTH / ACCESS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ACCAFB-DCF5-4960-BA92-37905F75A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14575"/>
            <a:ext cx="111252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22432"/>
          </a:solidFill>
          <a:ln xmlns:a="http://schemas.openxmlformats.org/drawingml/2006/main" w="9525">
            <a:solidFill>
              <a:srgbClr val="2840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0E3632-A37B-49A8-AAB8-AB85D91B8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5F8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F5F8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8FA"/>
                </a:solidFill>
                <a:latin typeface="Arial"/>
                <a:ea typeface="Arial"/>
                <a:cs typeface="Arial"/>
              </a:rPr>
              <a:t>Professional repair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7143E0-1E84-4C47-95E3-5A067137C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52412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5F8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F5F8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8FA"/>
                </a:solidFill>
                <a:latin typeface="Arial"/>
                <a:ea typeface="Arial"/>
                <a:cs typeface="Arial"/>
              </a:rPr>
              <a:t>FlexBV5 · ZXWSoft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9AF348-A8EB-44D2-A686-FE8E32B63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241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A6BA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A6BAC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6BAC7"/>
                </a:solidFill>
                <a:latin typeface="Arial"/>
                <a:ea typeface="Arial"/>
                <a:cs typeface="Arial"/>
              </a:rPr>
              <a:t>Schematic and repair workflows; native software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9D9558-D099-496E-AAC4-5A9AE671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19450"/>
            <a:ext cx="111252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22432"/>
          </a:solidFill>
          <a:ln xmlns:a="http://schemas.openxmlformats.org/drawingml/2006/main" w="9525">
            <a:solidFill>
              <a:srgbClr val="28404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6BE388-5ED3-4F33-8B20-9EC72087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5F8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F5F8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8FA"/>
                </a:solidFill>
                <a:latin typeface="Arial"/>
                <a:ea typeface="Arial"/>
                <a:cs typeface="Arial"/>
              </a:rPr>
              <a:t>Free proprietary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31994E-71D1-477C-A3BA-9B4EAB68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4290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5F8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F5F8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8FA"/>
                </a:solidFill>
                <a:latin typeface="Arial"/>
                <a:ea typeface="Arial"/>
                <a:cs typeface="Arial"/>
              </a:rPr>
              <a:t>NexusBV desktop + web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49C50C-48B2-4D1C-AABE-F7268A433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290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A6BA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A6BAC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6BAC7"/>
                </a:solidFill>
                <a:latin typeface="Arial"/>
                <a:ea typeface="Arial"/>
                <a:cs typeface="Arial"/>
              </a:rPr>
              <a:t>Broad format support; local browser option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D328B9-B611-4CAC-8F9F-21BF06E12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24325"/>
            <a:ext cx="111252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22432"/>
          </a:solidFill>
          <a:ln xmlns:a="http://schemas.openxmlformats.org/drawingml/2006/main" w="9525">
            <a:solidFill>
              <a:srgbClr val="28404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CACD2B-73D7-41AB-B019-D115872D2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33875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5F8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F5F8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8FA"/>
                </a:solidFill>
                <a:latin typeface="Arial"/>
                <a:ea typeface="Arial"/>
                <a:cs typeface="Arial"/>
              </a:rPr>
              <a:t>Open source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2A325E-0663-467D-BD94-8290705CF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3338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5F8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F5F8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8FA"/>
                </a:solidFill>
                <a:latin typeface="Arial"/>
                <a:ea typeface="Arial"/>
                <a:cs typeface="Arial"/>
              </a:rPr>
              <a:t>OpenBoardView · BoardRipper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BFB25E-E283-4CCA-80D1-04F13DF81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3387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A6BA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A6BAC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6BAC7"/>
                </a:solidFill>
                <a:latin typeface="Arial"/>
                <a:ea typeface="Arial"/>
                <a:cs typeface="Arial"/>
              </a:rPr>
              <a:t>Inspectable code; native or self-hosted web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75A20D-1EC6-4E2F-A619-7095F7D99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29200"/>
            <a:ext cx="111252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6323D"/>
          </a:solidFill>
          <a:ln xmlns:a="http://schemas.openxmlformats.org/drawingml/2006/main" w="9525">
            <a:solidFill>
              <a:srgbClr val="2B69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6C625C-9CB9-483F-B0ED-271DD6AAB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55CFB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55CFB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5CFBE"/>
                </a:solidFill>
                <a:latin typeface="Arial"/>
                <a:ea typeface="Arial"/>
                <a:cs typeface="Arial"/>
              </a:rPr>
              <a:t>BoardLoupe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4C0685-E474-4B45-AFF5-2B10F911F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2387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5F8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F5F8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8FA"/>
                </a:solidFill>
                <a:latin typeface="Arial"/>
                <a:ea typeface="Arial"/>
                <a:cs typeface="Arial"/>
              </a:rPr>
              <a:t>Hands-On Security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665500-AF35-47AA-BBAD-2857EA38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2387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A6BA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A6BAC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6BAC7"/>
                </a:solidFill>
                <a:latin typeface="Arial"/>
                <a:ea typeface="Arial"/>
                <a:cs typeface="Arial"/>
              </a:rPr>
              <a:t>One offline HTML file; tracing and probe points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FC6CE7-20E6-44F4-BFA1-2886C82A6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103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7F98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7F98A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F98A8"/>
                </a:solidFill>
                <a:latin typeface="Arial"/>
                <a:ea typeface="Arial"/>
                <a:cs typeface="Arial"/>
              </a:rPr>
              <a:t>Representative tools, not a feature ranking  ·  Sources in speaker notes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B0F4A7-9DF0-4995-B388-57C5D9002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2103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7F98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7F98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F98A8"/>
                </a:solidFill>
                <a:latin typeface="Arial"/>
                <a:ea typeface="Arial"/>
                <a:cs typeface="Arial"/>
              </a:rPr>
              <a:t>01 / 02</a:t>
            </a:r>
          </a:p>
        </p:txBody>
      </p:sp>
    </p:spTree>
    <p:extLst>
      <p:ext uri="{BB962C8B-B14F-4D97-AF65-F5344CB8AC3E}">
        <p14:creationId xmlns:p14="http://schemas.microsoft.com/office/powerpoint/2010/main" val="17031819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406DEF-E8E4-4EC0-A4F3-C2D810A5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F2BA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2BA4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2BA48"/>
                </a:solidFill>
                <a:latin typeface="Arial"/>
                <a:ea typeface="Arial"/>
                <a:cs typeface="Arial"/>
              </a:rPr>
              <a:t>BOARDLOUPE  /  CLASSROOM BETA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32A0A2-6B0B-49B3-BEC0-8E74A518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5F8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5F8F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5F8FA"/>
                </a:solidFill>
                <a:latin typeface="Arial"/>
                <a:ea typeface="Arial"/>
                <a:cs typeface="Arial"/>
              </a:rPr>
              <a:t>A boardview workflow for students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3D117C-D7A6-4664-8B9A-541A2CFC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A6BA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A6BA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6BAC7"/>
                </a:solidFill>
                <a:latin typeface="Arial"/>
                <a:ea typeface="Arial"/>
                <a:cs typeface="Arial"/>
              </a:rPr>
              <a:t>Local, portable, focused on investigation at the bench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F1E8D0-4B36-4EB1-ADAD-6FA518FC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43100"/>
            <a:ext cx="4171950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122432"/>
          </a:solidFill>
          <a:ln xmlns:a="http://schemas.openxmlformats.org/drawingml/2006/main" w="9525">
            <a:solidFill>
              <a:srgbClr val="28404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D9585D-FFBE-4C0B-B674-44B29B08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95500"/>
            <a:ext cx="361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55CFB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55CFB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5CFBE"/>
                </a:solidFill>
                <a:latin typeface="Arial"/>
                <a:ea typeface="Arial"/>
                <a:cs typeface="Arial"/>
              </a:rPr>
              <a:t>01  OPEN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5FDE26-E25E-4E4E-ABB2-ACE1E403C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90775"/>
            <a:ext cx="377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F5F8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F5F8F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5F8FA"/>
                </a:solidFill>
                <a:latin typeface="Arial"/>
                <a:ea typeface="Arial"/>
                <a:cs typeface="Arial"/>
              </a:rPr>
              <a:t>Drag a boardview into one HTML file. No VM, login or installation.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E52CFE-DC1F-4B08-8BAE-DEFA47847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4171950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122432"/>
          </a:solidFill>
          <a:ln xmlns:a="http://schemas.openxmlformats.org/drawingml/2006/main" w="9525">
            <a:solidFill>
              <a:srgbClr val="2840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C2C1DD-9937-4C8C-942D-EA4D5A93A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95650"/>
            <a:ext cx="361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55CFB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55CFB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5CFBE"/>
                </a:solidFill>
                <a:latin typeface="Arial"/>
                <a:ea typeface="Arial"/>
                <a:cs typeface="Arial"/>
              </a:rPr>
              <a:t>02  TRACE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935B78-9561-46C3-B1F7-A63B13489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90925"/>
            <a:ext cx="377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F5F8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F5F8F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5F8FA"/>
                </a:solidFill>
                <a:latin typeface="Arial"/>
                <a:ea typeface="Arial"/>
                <a:cs typeface="Arial"/>
              </a:rPr>
              <a:t>Follow nets through series parts and locate practical probe points.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9AE3F3-4270-47DE-AEC3-804F190AF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43400"/>
            <a:ext cx="4171950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122432"/>
          </a:solidFill>
          <a:ln xmlns:a="http://schemas.openxmlformats.org/drawingml/2006/main" w="9525">
            <a:solidFill>
              <a:srgbClr val="28404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29284E-A71E-4DD3-A83E-FC3E87C5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95800"/>
            <a:ext cx="361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55CFB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55CFB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5CFBE"/>
                </a:solidFill>
                <a:latin typeface="Arial"/>
                <a:ea typeface="Arial"/>
                <a:cs typeface="Arial"/>
              </a:rPr>
              <a:t>03  TEACH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7197F3-3C1D-4EA2-8250-CC12B810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91075"/>
            <a:ext cx="377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F5F8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F5F8F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5F8FA"/>
                </a:solidFill>
                <a:latin typeface="Arial"/>
                <a:ea typeface="Arial"/>
                <a:cs typeface="Arial"/>
              </a:rPr>
              <a:t>Use the same local browser workflow on students’ own machines.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AA3F25-F363-4DB3-A801-C10F257876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03bce843c34673"/>
          <a:stretch xmlns:a="http://schemas.openxmlformats.org/drawingml/2006/main"/>
        </p:blipFill>
        <p:spPr>
          <a:xfrm xmlns:a="http://schemas.openxmlformats.org/drawingml/2006/main">
            <a:off x="4991100" y="1945481"/>
            <a:ext cx="6667500" cy="4167188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2DDCB4-6775-4529-B83D-056D737A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103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7F98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7F98A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F98A8"/>
                </a:solidFill>
                <a:latin typeface="Arial"/>
                <a:ea typeface="Arial"/>
                <a:cs typeface="Arial"/>
              </a:rPr>
              <a:t>Pilot scope: tested formats only  ·  No board files or vendor keys included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7FA6C6-9A93-4EA1-AE55-16735BD6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2103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7F98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7F98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F98A8"/>
                </a:solidFill>
                <a:latin typeface="Arial"/>
                <a:ea typeface="Arial"/>
                <a:cs typeface="Arial"/>
              </a:rPr>
              <a:t>02 / 02</a:t>
            </a:r>
          </a:p>
        </p:txBody>
      </p:sp>
    </p:spTree>
    <p:extLst>
      <p:ext uri="{BB962C8B-B14F-4D97-AF65-F5344CB8AC3E}">
        <p14:creationId xmlns:p14="http://schemas.microsoft.com/office/powerpoint/2010/main" val="14846804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2026-10-10T09:35:46.9120000Z</dcterms:created>
  <dcterms:modified xsi:type="dcterms:W3CDTF">2026-10-10T09:35:46.9120000Z</dcterms:modified>
</coreProperties>
</file>